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DM Sans" pitchFamily="2" charset="0"/>
      <p:regular r:id="rId8"/>
      <p:bold r:id="rId9"/>
      <p:italic r:id="rId10"/>
      <p:boldItalic r:id="rId11"/>
    </p:embeddedFont>
    <p:embeddedFont>
      <p:font typeface="Merriweather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112035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146550" y="4229616"/>
            <a:ext cx="3898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Student Name: Moayed Jamal Eshbeni</a:t>
            </a:r>
            <a:endParaRPr lang="ar-SA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743325" y="4635242"/>
            <a:ext cx="47053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ourse: EC580 Special Topics in Digital Systems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953000" y="4829175"/>
            <a:ext cx="228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University of Tripoli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1533525"/>
            <a:ext cx="11601450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Quantum Random Number Generator (QRNG)</a:t>
            </a:r>
            <a:endParaRPr dirty="0"/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3721CA16-C197-14F7-2C1E-EFF047B152C1}"/>
              </a:ext>
            </a:extLst>
          </p:cNvPr>
          <p:cNvSpPr txBox="1"/>
          <p:nvPr/>
        </p:nvSpPr>
        <p:spPr>
          <a:xfrm>
            <a:off x="4146550" y="4423549"/>
            <a:ext cx="3898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Student ID: 2210249584</a:t>
            </a:r>
            <a:endParaRPr lang="ar-S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8523" y="1396852"/>
            <a:ext cx="4633278" cy="326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57740" y="4751091"/>
            <a:ext cx="6149419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Quantum Circuit Diagram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2634734" y="4782295"/>
            <a:ext cx="1567578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Explanation: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05FC3-F7CB-01DE-9D55-D0642C3154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949" y="1968796"/>
            <a:ext cx="3410426" cy="21243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667249-2179-BDE0-7659-41C172CB9666}"/>
              </a:ext>
            </a:extLst>
          </p:cNvPr>
          <p:cNvSpPr/>
          <p:nvPr/>
        </p:nvSpPr>
        <p:spPr>
          <a:xfrm>
            <a:off x="2755899" y="5021891"/>
            <a:ext cx="5753100" cy="990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E293B"/>
              </a:solidFill>
            </a:endParaRPr>
          </a:p>
        </p:txBody>
      </p:sp>
      <p:sp>
        <p:nvSpPr>
          <p:cNvPr id="5" name="Google Shape;99;p14">
            <a:extLst>
              <a:ext uri="{FF2B5EF4-FFF2-40B4-BE49-F238E27FC236}">
                <a16:creationId xmlns:a16="http://schemas.microsoft.com/office/drawing/2014/main" id="{DAB99A6F-4307-3F09-89CE-18FFDB144475}"/>
              </a:ext>
            </a:extLst>
          </p:cNvPr>
          <p:cNvSpPr txBox="1"/>
          <p:nvPr/>
        </p:nvSpPr>
        <p:spPr>
          <a:xfrm>
            <a:off x="2402819" y="4974870"/>
            <a:ext cx="645926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8FAFC"/>
                </a:solidFill>
              </a:rPr>
              <a:t>The qubit starts in the state |0⟩.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8FAFC"/>
                </a:solidFill>
              </a:rPr>
              <a:t>A Hadamard gate creates a superposition.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8FAFC"/>
                </a:solidFill>
              </a:rPr>
              <a:t>Measuring the qubit produces either 0 or 1 with equal probability (50%).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2305" y="2796058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3" y="1563854"/>
            <a:ext cx="5286375" cy="484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2305" y="1570171"/>
            <a:ext cx="5286375" cy="1159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Qiskit Python </a:t>
            </a:r>
            <a:r>
              <a:rPr lang="en-US" sz="3600" b="1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Code</a:t>
            </a:r>
            <a:r>
              <a:rPr lang="en-US" sz="3600" b="1" i="0" u="none" strike="noStrike" cap="none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 &amp; Results</a:t>
            </a:r>
            <a:endParaRPr dirty="0"/>
          </a:p>
        </p:txBody>
      </p:sp>
      <p:sp>
        <p:nvSpPr>
          <p:cNvPr id="117" name="Google Shape;117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9380E2-F60E-653C-CBF4-810E4B8606D7}"/>
              </a:ext>
            </a:extLst>
          </p:cNvPr>
          <p:cNvSpPr/>
          <p:nvPr/>
        </p:nvSpPr>
        <p:spPr>
          <a:xfrm>
            <a:off x="698500" y="1993962"/>
            <a:ext cx="4933950" cy="373373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E293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620D0-AFEB-66F2-33ED-4B5BDB6353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173" y="1844653"/>
            <a:ext cx="4531034" cy="42816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526BDC-0519-4BCF-EB7E-2C6B9B03C88C}"/>
              </a:ext>
            </a:extLst>
          </p:cNvPr>
          <p:cNvSpPr/>
          <p:nvPr/>
        </p:nvSpPr>
        <p:spPr>
          <a:xfrm>
            <a:off x="7096198" y="1759037"/>
            <a:ext cx="3857482" cy="734012"/>
          </a:xfrm>
          <a:prstGeom prst="rect">
            <a:avLst/>
          </a:prstGeom>
          <a:solidFill>
            <a:srgbClr val="112035"/>
          </a:solidFill>
          <a:ln>
            <a:solidFill>
              <a:srgbClr val="1120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E22350-06A2-97F2-3A0D-64485AE0A8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3428" y="1644320"/>
            <a:ext cx="3083022" cy="9634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55C20D-3BB5-5DC9-6D52-3C43FEDC27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6428" y="3087068"/>
            <a:ext cx="4477021" cy="3199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0259" y="1479550"/>
            <a:ext cx="9311481" cy="48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Hand Calculation</a:t>
            </a:r>
            <a:endParaRPr dirty="0"/>
          </a:p>
        </p:txBody>
      </p:sp>
      <p:sp>
        <p:nvSpPr>
          <p:cNvPr id="131" name="Google Shape;131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A12B34-43EB-553C-1C39-436AE8423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047" y="1766074"/>
            <a:ext cx="3586042" cy="4233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05FFD0-E0A5-3796-FD84-C14A838AA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386" y="1766074"/>
            <a:ext cx="4727056" cy="4233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2467" y="1465302"/>
            <a:ext cx="8307065" cy="495533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dirty="0"/>
          </a:p>
        </p:txBody>
      </p:sp>
      <p:sp>
        <p:nvSpPr>
          <p:cNvPr id="149" name="Google Shape;149;p1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9;p14">
            <a:extLst>
              <a:ext uri="{FF2B5EF4-FFF2-40B4-BE49-F238E27FC236}">
                <a16:creationId xmlns:a16="http://schemas.microsoft.com/office/drawing/2014/main" id="{210B86B8-DC11-1E94-BD18-DB0254F32085}"/>
              </a:ext>
            </a:extLst>
          </p:cNvPr>
          <p:cNvSpPr txBox="1"/>
          <p:nvPr/>
        </p:nvSpPr>
        <p:spPr>
          <a:xfrm>
            <a:off x="2386944" y="1870710"/>
            <a:ext cx="7418110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8FAFC"/>
                </a:solidFill>
                <a:latin typeface="DM Sans" pitchFamily="2" charset="0"/>
              </a:rPr>
              <a:t>Conclusion: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8FAFC"/>
                </a:solidFill>
                <a:latin typeface="DM Sans" pitchFamily="2" charset="0"/>
              </a:rPr>
              <a:t>The QRNG uses the principle of quantum superposition to generate truly random outcomes.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8FAFC"/>
                </a:solidFill>
                <a:latin typeface="DM Sans" pitchFamily="2" charset="0"/>
              </a:rPr>
              <a:t>Applying the Hadamard gate places the qubit in an equal superposition of ∣0⟩ and ∣1⟩.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8FAFC"/>
                </a:solidFill>
                <a:latin typeface="DM Sans" pitchFamily="2" charset="0"/>
              </a:rPr>
              <a:t>The measurement process collapses the qubit into either 0 or 1 with a probability of 50% for each outcome.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8FAFC"/>
                </a:solidFill>
                <a:latin typeface="DM Sans" pitchFamily="2" charset="0"/>
              </a:rPr>
              <a:t>The Qiskit simulation produced approximately equal counts of 0s and 1s, confirming that the circuit behaves as expected.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8FAFC"/>
                </a:solidFill>
                <a:latin typeface="DM Sans" pitchFamily="2" charset="0"/>
              </a:rPr>
              <a:t>This demonstrates that quantum computing can generate genuine randomness, unlike classical pseudo-random number generators.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163</Words>
  <Application>Microsoft Office PowerPoint</Application>
  <PresentationFormat>Widescreen</PresentationFormat>
  <Paragraphs>19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Merriweather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Moayed Ly</cp:lastModifiedBy>
  <cp:revision>5</cp:revision>
  <dcterms:modified xsi:type="dcterms:W3CDTF">2026-07-10T08:57:16Z</dcterms:modified>
</cp:coreProperties>
</file>